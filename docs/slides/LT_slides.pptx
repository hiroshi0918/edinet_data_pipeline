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-2-1.jpg" ContentType="image/jpg"/>
  <Override PartName="/ppt/media/image-2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女性管理職比率(%)</c:v>
                </c:pt>
              </c:strCache>
            </c:strRef>
          </c:tx>
          <c:spPr>
            <a:solidFill>
              <a:srgbClr val="BBBBBB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0A0A"/>
                    </a:solidFill>
                    <a:latin typeface="Calibri Ligh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鉄鋼</c:v>
                  </c:pt>
                  <c:pt idx="1">
                    <c:v>建設業</c:v>
                  </c:pt>
                  <c:pt idx="2">
                    <c:v>輸送用機器</c:v>
                  </c:pt>
                  <c:pt idx="3">
                    <c:v>金属製品</c:v>
                  </c:pt>
                  <c:pt idx="4">
                    <c:v>機械</c:v>
                  </c:pt>
                  <c:pt idx="5">
                    <c:v>医薬品</c:v>
                  </c:pt>
                  <c:pt idx="6">
                    <c:v>小売業</c:v>
                  </c:pt>
                  <c:pt idx="7">
                    <c:v>情報・通信業</c:v>
                  </c:pt>
                  <c:pt idx="8">
                    <c:v>その他金融業</c:v>
                  </c:pt>
                  <c:pt idx="9">
                    <c:v>サービス業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2.96</c:v>
                </c:pt>
                <c:pt idx="1">
                  <c:v>3.89</c:v>
                </c:pt>
                <c:pt idx="2">
                  <c:v>3.9</c:v>
                </c:pt>
                <c:pt idx="3">
                  <c:v>3.91</c:v>
                </c:pt>
                <c:pt idx="4">
                  <c:v>4.45</c:v>
                </c:pt>
                <c:pt idx="5">
                  <c:v>15.21</c:v>
                </c:pt>
                <c:pt idx="6">
                  <c:v>15.35</c:v>
                </c:pt>
                <c:pt idx="7">
                  <c:v>15.88</c:v>
                </c:pt>
                <c:pt idx="8">
                  <c:v>17.86</c:v>
                </c:pt>
                <c:pt idx="9">
                  <c:v>21.18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A0A0A"/>
                  </a:solidFill>
                  <a:latin typeface="Calibri Ligh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0A0A"/>
                </a:solidFill>
                <a:latin typeface="Calibri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Calibri Ligh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男性育休取得率(%)</c:v>
                </c:pt>
              </c:strCache>
            </c:strRef>
          </c:tx>
          <c:spPr>
            <a:solidFill>
              <a:srgbClr val="BBBBBB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0A0A"/>
                    </a:solidFill>
                    <a:latin typeface="Calibri Ligh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倉庫・運輸関連</c:v>
                  </c:pt>
                  <c:pt idx="1">
                    <c:v>小売業</c:v>
                  </c:pt>
                  <c:pt idx="2">
                    <c:v>ガラス・土石製品</c:v>
                  </c:pt>
                  <c:pt idx="3">
                    <c:v>卸売業</c:v>
                  </c:pt>
                  <c:pt idx="4">
                    <c:v>サービス業</c:v>
                  </c:pt>
                  <c:pt idx="5">
                    <c:v>証券、商品先物取引業</c:v>
                  </c:pt>
                  <c:pt idx="6">
                    <c:v>パルプ・紙</c:v>
                  </c:pt>
                  <c:pt idx="7">
                    <c:v>電気・ガス業</c:v>
                  </c:pt>
                  <c:pt idx="8">
                    <c:v>その他金融業</c:v>
                  </c:pt>
                  <c:pt idx="9">
                    <c:v>銀行業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46.83</c:v>
                </c:pt>
                <c:pt idx="1">
                  <c:v>49.83</c:v>
                </c:pt>
                <c:pt idx="2">
                  <c:v>53.08</c:v>
                </c:pt>
                <c:pt idx="3">
                  <c:v>53.64</c:v>
                </c:pt>
                <c:pt idx="4">
                  <c:v>54.17</c:v>
                </c:pt>
                <c:pt idx="5">
                  <c:v>70.87</c:v>
                </c:pt>
                <c:pt idx="6">
                  <c:v>73.81</c:v>
                </c:pt>
                <c:pt idx="7">
                  <c:v>86.84</c:v>
                </c:pt>
                <c:pt idx="8">
                  <c:v>86.91</c:v>
                </c:pt>
                <c:pt idx="9">
                  <c:v>94.52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A0A0A"/>
                  </a:solidFill>
                  <a:latin typeface="Calibri Ligh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0A0A"/>
                </a:solidFill>
                <a:latin typeface="Calibri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Calibri Ligh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男女の賃金格差(%)</c:v>
                </c:pt>
              </c:strCache>
            </c:strRef>
          </c:tx>
          <c:spPr>
            <a:solidFill>
              <a:srgbClr val="BBBBBB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0A0A"/>
                    </a:solidFill>
                    <a:latin typeface="Calibri Ligh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証券、商品先物取引業</c:v>
                  </c:pt>
                  <c:pt idx="1">
                    <c:v>銀行業</c:v>
                  </c:pt>
                  <c:pt idx="2">
                    <c:v>その他金融業</c:v>
                  </c:pt>
                  <c:pt idx="3">
                    <c:v>不動産業</c:v>
                  </c:pt>
                  <c:pt idx="4">
                    <c:v>保険業</c:v>
                  </c:pt>
                  <c:pt idx="5">
                    <c:v>パルプ・紙</c:v>
                  </c:pt>
                  <c:pt idx="6">
                    <c:v>化学</c:v>
                  </c:pt>
                  <c:pt idx="7">
                    <c:v>電気機器</c:v>
                  </c:pt>
                  <c:pt idx="8">
                    <c:v>輸送用機器</c:v>
                  </c:pt>
                  <c:pt idx="9">
                    <c:v>鉄鋼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38.43</c:v>
                </c:pt>
                <c:pt idx="1">
                  <c:v>40.37</c:v>
                </c:pt>
                <c:pt idx="2">
                  <c:v>42.08</c:v>
                </c:pt>
                <c:pt idx="3">
                  <c:v>43</c:v>
                </c:pt>
                <c:pt idx="4">
                  <c:v>47.44</c:v>
                </c:pt>
                <c:pt idx="5">
                  <c:v>60.28</c:v>
                </c:pt>
                <c:pt idx="6">
                  <c:v>60.63</c:v>
                </c:pt>
                <c:pt idx="7">
                  <c:v>60.93</c:v>
                </c:pt>
                <c:pt idx="8">
                  <c:v>67.74</c:v>
                </c:pt>
                <c:pt idx="9">
                  <c:v>69.05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A0A0A"/>
                  </a:solidFill>
                  <a:latin typeface="Calibri Ligh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0A0A"/>
                </a:solidFill>
                <a:latin typeface="Calibri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Calibri Ligh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タイトル読み上げ
- 名乗る、よろしく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経歴3社を順に
- 1社目: SMBC日興 (営業) → 有報を読む下地
- 2社目: ビジネスコーチ (PM) → 人的資本という言葉に出会う
- 在籍中に開示義務化開始 (偶然のタイミング)
- 動機:「データ取ったら面白いんじゃない？」
- 3社目 FLINTERS BASE 移籍後に個人プロジェクト化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EDINET = 金融庁の有報電子開示システム
- 提出義務: 全上場 (約4,000社) + 株主1,000人以上の非上場 = 計約4,300社
- 2023年3月期決算から義務化された塊は2つ:
  ① 人材育成・社内環境の方針 (文章)
  ② 数値3指標 (女性管理職比率/男性育休取得率/男女の賃金格差)
- 4,300社×2年分を分析した
- 「楽しみに始めたんですが——」で次へ橋渡し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構成はざっくり: EDINET API → PostgreSQL → DuckDB/Parquet → Streamlit
- 運用DBと分析DBを分離 (← 失敗談の伏線)
- 詳細は GitHub README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分析の道のりをそのまま話す形式
- ① 業界別指標、② 売上との相関、③ 気づき
- ③「気づき」が今日いちばん伝えたいこと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女性管理職比率の業界平均: 下位5(グレー) vs 上位5(赤)
- 下=重工業系 約3-4% (鉄鋼が最低)
- 上=サービス・情報通信・金融系 約16-21% (サービス業21%)
- 最大7倍の差
- メッセージ: 個社の数字は業界平均と比べないと意味がない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男性育休取得率の業界平均
- 下=流通系 約47-54% (倉庫・小売・卸売・サービス)
- 上=金融・公益系 約70-94% (銀行業94.5%が最高)
- 最大2倍の差
- 構図: 金融・公益で取得率高、流通で低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男女の賃金格差 (100=平等、低い=女性給与少)
- 上の赤=重工業系60-69% (最も平等寄り)
- 下のグレー=金融系38-47% (証券・先物38%が最低 = 格差最大)
- ★ 伏線投げ:「金融系は育休取得率高いのに賃金格差はワースト。なぜ？」
- → スライド10で回収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売上規模で3指標を回帰した結果
- R² の説明は1行:「1=完全説明 / 0=無関係」
- 数字: 0.035 / 0.001 / 0.012 (順に読み上げ、0.001で間)
- 3つともほぼゼロ = 規模では予測できない
- ★ ただし「本当に規模と無関係?」と疑問形で締めて次へ橋渡し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今日のメイン
- 算出式を3指標とも調べたら、全部に欠陥があった
[1] 女性管理職比率 = 女性管理職 ÷ 全管理職
  → 女性社員の母数を見ていない (女性社員10%なら構造的に当然)
[2] 男性育休取得率 = 取得男性 ÷ 配偶者出産男性
  → 取得期間を見ていない (1日も半年も同じ100%)
[3] 男女の賃金格差 = 女性平均賃金 ÷ 男性平均賃金
  → 4要因が混在: ①真の差別 ②非正規率差 ③職階差 ④勤続差
  → 非正規率: 男22% / 女53% → これだけで大きく動く
- ★ Slide8伏線回収: 金融系の格差大は「女性社員の多くが非正規・一般職」の構成効果
- 分析2のR²がほぼゼロも、指標がノイズだらけだったせいかもしれない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学び3つを言い直す
  1. 相対的に見る (絶対値だけでは判断不能)
  2. 相関を見る (ただし指標が正しい前提)
  3. 指標の背景を読む ← 今日いちばん伝えたい
- メインメッセージ: 数字の前に、指標が何を測っているかを必ず確認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笑いトーンで:「いちばん伝えたかったかも (笑)」
- AIに「テスト走らせて」→ 全グリーン
- DB確認したら 8,481行 → 2行
- 原因: テストのTRUNCATEが環境変数間違いで本番に着弾
- 救い: 分析DBを別系統にしていた (序盤の伏線回収)
- 結び: AI時代の安全装置は人間が事前に仕込む
★ 読み方:「8,481行 → 2行」で2秒沈黙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お礼
- Streamlit Cloud: edinet-dashboard.streamlit.app
- GitHub (public): github.com/hiroshi0918
- 「興味ある業界を覗いてみて」で締め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LT /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4,300</a:t>
            </a:r>
            <a:pPr algn="l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社の</a:t>
            </a:r>
            <a:endParaRPr lang="en-US" sz="4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人的資本データ分析してみた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寺嶋 裕 (Hiroshi Terashima)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自己紹介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寺嶋 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テラシマ ヒロシ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457200" cy="0"/>
          </a:xfrm>
          <a:prstGeom prst="line">
            <a:avLst/>
          </a:prstGeom>
          <a:noFill/>
          <a:ln w="254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377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SMBC 日興証券株式会社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営業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ビジネスコーチ株式会社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アプリ開発 PM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株式会社 FLINTERS 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041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データエンジニア</a:t>
            </a:r>
            <a:endParaRPr lang="en-US" sz="1100" dirty="0"/>
          </a:p>
        </p:txBody>
      </p:sp>
      <p:pic>
        <p:nvPicPr>
          <p:cNvPr id="15" name="Image 0" descr="logos/snow_gro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457200"/>
            <a:ext cx="4144345" cy="3108960"/>
          </a:xfrm>
          <a:prstGeom prst="rect">
            <a:avLst/>
          </a:prstGeom>
        </p:spPr>
      </p:pic>
      <p:pic>
        <p:nvPicPr>
          <p:cNvPr id="16" name="Image 1" descr="logos/snow_tw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334" y="3291840"/>
            <a:ext cx="2255011" cy="1691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4846320"/>
            <a:ext cx="4144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FLINTERS BASE メンバーと / 2025 冬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EDINET と人的資本開示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3B3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EDINET</a:t>
            </a:r>
            <a:pPr algn="l"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: 金融庁の有価証券報告書DB / 約4,300社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8046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 年 3 月期決算 〜 義務化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人材育成・社内環境の方針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</a:t>
            </a:r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A0A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数値3指標: 女性管理職比率 / 男性育休取得率 / 男女の賃金格差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パイプライン全体像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1500" y="1828800"/>
            <a:ext cx="1828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EDINET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公開データ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18588" y="2788920"/>
            <a:ext cx="192024" cy="0"/>
          </a:xfrm>
          <a:prstGeom prst="line">
            <a:avLst/>
          </a:prstGeom>
          <a:noFill/>
          <a:ln w="25400">
            <a:solidFill>
              <a:srgbClr val="FF3B3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28900" y="1828800"/>
            <a:ext cx="1828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pic>
        <p:nvPicPr>
          <p:cNvPr id="8" name="Image 0" descr="logos/postg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2216" y="2011680"/>
            <a:ext cx="842167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289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6289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運用DB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75988" y="2788920"/>
            <a:ext cx="192024" cy="0"/>
          </a:xfrm>
          <a:prstGeom prst="line">
            <a:avLst/>
          </a:prstGeom>
          <a:noFill/>
          <a:ln w="25400">
            <a:solidFill>
              <a:srgbClr val="FF3B3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686300" y="1828800"/>
            <a:ext cx="1828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pic>
        <p:nvPicPr>
          <p:cNvPr id="13" name="Image 1" descr="logos/duck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765" y="2011680"/>
            <a:ext cx="1129871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863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分析DB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33388" y="2788920"/>
            <a:ext cx="192024" cy="0"/>
          </a:xfrm>
          <a:prstGeom prst="line">
            <a:avLst/>
          </a:prstGeom>
          <a:noFill/>
          <a:ln w="25400">
            <a:solidFill>
              <a:srgbClr val="FF3B3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743700" y="1828800"/>
            <a:ext cx="1828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pic>
        <p:nvPicPr>
          <p:cNvPr id="17" name="Image 2" descr="logos/streaml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069458"/>
            <a:ext cx="1371600" cy="753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37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437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可視化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発表内容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18745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業界別指標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554480" y="27889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売上規模との相関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554480" y="3703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気づき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分析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女性管理職比率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8046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分析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男性育休取得率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8046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分析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男女の賃金格差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8046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分析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売上規模との相関は、ほぼゼロ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女性管理職比率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0.035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594360" y="3429000"/>
            <a:ext cx="219456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429000"/>
            <a:ext cx="75712" cy="109728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売上で 3.5% しか説明しない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男性育休取得率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0.001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3474720" y="3429000"/>
            <a:ext cx="219456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3429000"/>
            <a:ext cx="18288" cy="109728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売上で 0.1% しか説明しない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46304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男女の賃金格差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07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0.012</a:t>
            </a:r>
            <a:endParaRPr lang="en-US" sz="5600" dirty="0"/>
          </a:p>
        </p:txBody>
      </p:sp>
      <p:sp>
        <p:nvSpPr>
          <p:cNvPr id="22" name="Shape 20"/>
          <p:cNvSpPr/>
          <p:nvPr/>
        </p:nvSpPr>
        <p:spPr>
          <a:xfrm>
            <a:off x="6355080" y="3429000"/>
            <a:ext cx="219456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429000"/>
            <a:ext cx="27213" cy="109728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売上で 1.2% しか説明しない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※ R² = 1 で完全に説明できる / 0 で無関係 (バーは 0〜1 スケール)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 = 4,276 〜 6,391 / 出典: EDINET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気づき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指標が何を意味しているか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7452" y="1417320"/>
            <a:ext cx="286207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" y="1600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女性管理職比率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3212" y="2057400"/>
            <a:ext cx="2130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" y="21945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女性管理職 ÷ 全管理職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" y="2788920"/>
            <a:ext cx="2130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" y="292608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女性社員の母数を見ていない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4612" y="3703320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女性社員が全社の 10% しかいなければ、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女性管理職比率が低くて当たり前。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40964" y="1417320"/>
            <a:ext cx="286207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0964" y="1600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男性育休取得率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06724" y="2057400"/>
            <a:ext cx="2130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2404" y="21945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取得した男性 ÷ 配偶者出産男性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06724" y="2788920"/>
            <a:ext cx="2130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2404" y="292608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取得日数を見ていない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78124" y="3703320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日取得も、半年取得も、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同じ「1 回取得」。同じ 100%。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4476" y="1417320"/>
            <a:ext cx="286207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4476" y="16002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男女の賃金格差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60236" y="2057400"/>
            <a:ext cx="2130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5916" y="21945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女性平均賃金 ÷ 男性平均賃金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60236" y="2788920"/>
            <a:ext cx="2130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5916" y="292608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複数要因が混在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31636" y="3703320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非正規率 男 22% / 女 53% など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雇用形態の差がそのまま入る。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分析を通して学んだ 3 つのこと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1874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相対的に見る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絶対値だけ見ても、良いか悪いか分からない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27889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相関を見る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ただし、相関も「指標が正しい前提」の話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554480" y="3703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指標の背景を読む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4114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定義を理解しないと、分析全体が空転する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失敗談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に本番 DB を全焼された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消えたデータ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8,481</a:t>
            </a:r>
            <a:pPr algn="l"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行</a:t>
            </a:r>
            <a:endParaRPr lang="en-US" sz="9600" dirty="0"/>
          </a:p>
        </p:txBody>
      </p:sp>
      <p:pic>
        <p:nvPicPr>
          <p:cNvPr id="6" name="Image 0" descr="logos/claude_truncate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54480"/>
            <a:ext cx="4083654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3977640"/>
            <a:ext cx="4083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実際のセッション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457200"/>
            <a:ext cx="43434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85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01752" y="1954383"/>
            <a:ext cx="4014216" cy="189767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6" name="Image 0" descr="logos/streamli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972671"/>
            <a:ext cx="3977640" cy="18610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160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edinet-dashboard.streamlit.app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457200"/>
            <a:ext cx="43434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685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92040" y="1005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030208" y="1581912"/>
            <a:ext cx="3609863" cy="26426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2" name="Image 1" descr="logos/github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96" y="1600200"/>
            <a:ext cx="3573287" cy="2606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4160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github.com/hiroshi0918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Thanks!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EDINET 4,000 社を覗いて見えた『見えていない格差』</dc:title>
  <dc:subject>PptxGenJS Presentation</dc:subject>
  <dc:creator>寺嶋 裕</dc:creator>
  <cp:lastModifiedBy>寺嶋 裕</cp:lastModifiedBy>
  <cp:revision>1</cp:revision>
  <dcterms:created xsi:type="dcterms:W3CDTF">2026-05-19T03:25:52Z</dcterms:created>
  <dcterms:modified xsi:type="dcterms:W3CDTF">2026-05-19T03:25:52Z</dcterms:modified>
</cp:coreProperties>
</file>